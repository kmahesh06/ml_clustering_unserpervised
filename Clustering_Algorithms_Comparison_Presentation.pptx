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818CF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 Dataset  |  11 Algorithms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74904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74904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scikit-learn clustering algorithms applied to Mall Customers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Centroid-based, uses elbow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Hierarchical, bottom-up merging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51460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14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Message-passing, auto clusters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15468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54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Tree-based, memory efficient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79476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K-Means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 variant of K-Means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4434840"/>
            <a:ext cx="457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434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8892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Density-based, handles noise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23444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3440" y="1234440"/>
            <a:ext cx="45720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Agglomeration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Feature-side clustering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187452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1874520"/>
            <a:ext cx="45720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1874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8660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Mode-seeking, bandwidth-based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251460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4663440" y="2514600"/>
            <a:ext cx="45720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2514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660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Graph-based, manifold aware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315468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3440" y="3154680"/>
            <a:ext cx="45720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3154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663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86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Density, variable eps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3440" y="3794760"/>
            <a:ext cx="40233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Shape 54"/>
          <p:cNvSpPr/>
          <p:nvPr/>
        </p:nvSpPr>
        <p:spPr>
          <a:xfrm>
            <a:off x="4663440" y="3794760"/>
            <a:ext cx="45720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66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8660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soft assignments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  ·  200 rows  ·  5 columns  ·  Features: Annual Income &amp; Spending Score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for each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432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27432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432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27432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in years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27432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23160"/>
            <a:ext cx="27432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thousands of dollars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423160"/>
            <a:ext cx="27432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423160"/>
            <a:ext cx="274320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1–100 assigned by mall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targets the 2 key behavioral features: Annual Income &amp; Spending Score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Optimal Cluster Count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777240"/>
            <a:ext cx="301752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868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drops sharply from k=1 to k=5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point clearly at k =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reference by K-Means, BisectingKMeans, Spectral &amp; GMM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  ·  n_clusters=5, init=k-means++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scalable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consistent clusters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centroids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 clusters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well-separated customer segments identified. Clear income–score groupings.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Excellent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 ·  n_clusters=5, linkage=Ward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random init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gives insights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memory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k upfront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large data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5-cluster split similar to K-Means; dendrogram confirms k=5.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Very Good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 ·  random_state=15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cluster count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initialization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Exemplar-based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complexity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clusters possible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damping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clusters detected — may over-segment the mall data.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Moderate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 ·  n_clusters=5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large datasets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streams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effective in high dimensions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threshold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5 clusters comparable to K-Means; efficient performance.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Very Good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K-Means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  ·  n_clusters=5, random_state=42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than standard K-Means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structure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decisions are final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k specified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closely match K-Means with slight boundary differences.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Very Good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 ·  eps=12, min_samples=4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specify 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arbitrary shapes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noise/outliers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tuning is critical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varying density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great for uniform data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noise well; cluster count depends on eps — sensitive to tuning.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Context-Dependent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Agglomeration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Feature-Side Clustering  ·  n_clusters=32 (features)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feature dimensionality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high-dim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compression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sample clustering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some fine details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64 digit features to 32 — good reconstruction fidelity shown.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Different Purpose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Mode-Seeking  ·  bandwidth=20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clusters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assumed shape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must be set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O(n²)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nearby clusters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separation with bandwidth=20; compact well-centered clusters.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Good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 ·  n_clusters=5, assign_labels=discretize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non-convex shapes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for complex manifolds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O(n³)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 upfront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graph params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clusters formed; convergence warning noted — data may be too uniform.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Moderate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(Enhanced)  ·  min_samples=4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density handling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specify eps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output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output interpretation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datasets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tune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density-connected clusters but may label many points as noise.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Moderate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502920" cy="50292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612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 ·  n_components=5, random_state=0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937760" cy="3291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8463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960120"/>
            <a:ext cx="342900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801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 assignments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5819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elliptical clusters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18836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EM-based, principled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377440"/>
            <a:ext cx="3429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974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 specified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with many components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K-Means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40680" y="3474720"/>
            <a:ext cx="3429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probabilistic boundaries; slightly different from hard clustering.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40680" y="4370832"/>
            <a:ext cx="3429000" cy="47548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4370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Very Good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777240"/>
            <a:ext cx="91440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777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777240"/>
            <a:ext cx="73152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777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777240"/>
            <a:ext cx="73152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777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18872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777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777240"/>
            <a:ext cx="100584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777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161288"/>
            <a:ext cx="201168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161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161288"/>
            <a:ext cx="91440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1161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161288"/>
            <a:ext cx="73152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161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1161288"/>
            <a:ext cx="73152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4069080" y="1161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61288"/>
            <a:ext cx="118872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61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1161288"/>
            <a:ext cx="1005840" cy="3657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161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1545336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15453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77440" y="1545336"/>
            <a:ext cx="9144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15453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1545336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15453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23360" y="1545336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069080" y="15453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545336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1545336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1545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1929384"/>
            <a:ext cx="20116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1929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1929384"/>
            <a:ext cx="9144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3" name="Text 41"/>
          <p:cNvSpPr/>
          <p:nvPr/>
        </p:nvSpPr>
        <p:spPr>
          <a:xfrm>
            <a:off x="2423160" y="1929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1840" y="1929384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5" name="Text 43"/>
          <p:cNvSpPr/>
          <p:nvPr/>
        </p:nvSpPr>
        <p:spPr>
          <a:xfrm>
            <a:off x="3337560" y="19293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0" y="1929384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19293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1929384"/>
            <a:ext cx="11887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1929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43600" y="1929384"/>
            <a:ext cx="100584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1" name="Text 49"/>
          <p:cNvSpPr/>
          <p:nvPr/>
        </p:nvSpPr>
        <p:spPr>
          <a:xfrm>
            <a:off x="5989320" y="19293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2313432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77440" y="2313432"/>
            <a:ext cx="9144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23134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91840" y="2313432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5"/>
          <p:cNvSpPr/>
          <p:nvPr/>
        </p:nvSpPr>
        <p:spPr>
          <a:xfrm>
            <a:off x="3337560" y="23134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23360" y="2313432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4069080" y="23134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2313432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9"/>
          <p:cNvSpPr/>
          <p:nvPr/>
        </p:nvSpPr>
        <p:spPr>
          <a:xfrm>
            <a:off x="4800600" y="2313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43600" y="2313432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61"/>
          <p:cNvSpPr/>
          <p:nvPr/>
        </p:nvSpPr>
        <p:spPr>
          <a:xfrm>
            <a:off x="5989320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2697480"/>
            <a:ext cx="20116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377440" y="2697480"/>
            <a:ext cx="9144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7" name="Text 65"/>
          <p:cNvSpPr/>
          <p:nvPr/>
        </p:nvSpPr>
        <p:spPr>
          <a:xfrm>
            <a:off x="242316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91840" y="2697480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9" name="Text 67"/>
          <p:cNvSpPr/>
          <p:nvPr/>
        </p:nvSpPr>
        <p:spPr>
          <a:xfrm>
            <a:off x="333756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023360" y="2697480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1" name="Text 69"/>
          <p:cNvSpPr/>
          <p:nvPr/>
        </p:nvSpPr>
        <p:spPr>
          <a:xfrm>
            <a:off x="406908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3" name="Text 71"/>
          <p:cNvSpPr/>
          <p:nvPr/>
        </p:nvSpPr>
        <p:spPr>
          <a:xfrm>
            <a:off x="480060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943600" y="2697480"/>
            <a:ext cx="100584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5" name="Text 73"/>
          <p:cNvSpPr/>
          <p:nvPr/>
        </p:nvSpPr>
        <p:spPr>
          <a:xfrm>
            <a:off x="59893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3081528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Text 75"/>
          <p:cNvSpPr/>
          <p:nvPr/>
        </p:nvSpPr>
        <p:spPr>
          <a:xfrm>
            <a:off x="411480" y="3081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377440" y="3081528"/>
            <a:ext cx="9144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9" name="Text 77"/>
          <p:cNvSpPr/>
          <p:nvPr/>
        </p:nvSpPr>
        <p:spPr>
          <a:xfrm>
            <a:off x="2423160" y="3081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291840" y="3081528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Text 79"/>
          <p:cNvSpPr/>
          <p:nvPr/>
        </p:nvSpPr>
        <p:spPr>
          <a:xfrm>
            <a:off x="3337560" y="3081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23360" y="3081528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Text 81"/>
          <p:cNvSpPr/>
          <p:nvPr/>
        </p:nvSpPr>
        <p:spPr>
          <a:xfrm>
            <a:off x="4069080" y="3081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54880" y="3081528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5" name="Text 83"/>
          <p:cNvSpPr/>
          <p:nvPr/>
        </p:nvSpPr>
        <p:spPr>
          <a:xfrm>
            <a:off x="480060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943600" y="3081528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7" name="Text 85"/>
          <p:cNvSpPr/>
          <p:nvPr/>
        </p:nvSpPr>
        <p:spPr>
          <a:xfrm>
            <a:off x="5989320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" y="3465576"/>
            <a:ext cx="20116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89" name="Text 87"/>
          <p:cNvSpPr/>
          <p:nvPr/>
        </p:nvSpPr>
        <p:spPr>
          <a:xfrm>
            <a:off x="411480" y="34655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Agglo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377440" y="3465576"/>
            <a:ext cx="9144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1" name="Text 89"/>
          <p:cNvSpPr/>
          <p:nvPr/>
        </p:nvSpPr>
        <p:spPr>
          <a:xfrm>
            <a:off x="2423160" y="34655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91840" y="3465576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3" name="Text 91"/>
          <p:cNvSpPr/>
          <p:nvPr/>
        </p:nvSpPr>
        <p:spPr>
          <a:xfrm>
            <a:off x="333756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023360" y="3465576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5" name="Text 93"/>
          <p:cNvSpPr/>
          <p:nvPr/>
        </p:nvSpPr>
        <p:spPr>
          <a:xfrm>
            <a:off x="406908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754880" y="3465576"/>
            <a:ext cx="11887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7" name="Text 95"/>
          <p:cNvSpPr/>
          <p:nvPr/>
        </p:nvSpPr>
        <p:spPr>
          <a:xfrm>
            <a:off x="4800600" y="34655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943600" y="3465576"/>
            <a:ext cx="100584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9" name="Text 97"/>
          <p:cNvSpPr/>
          <p:nvPr/>
        </p:nvSpPr>
        <p:spPr>
          <a:xfrm>
            <a:off x="5989320" y="3465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65760" y="3849624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1" name="Text 99"/>
          <p:cNvSpPr/>
          <p:nvPr/>
        </p:nvSpPr>
        <p:spPr>
          <a:xfrm>
            <a:off x="411480" y="3849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377440" y="3849624"/>
            <a:ext cx="9144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3" name="Text 101"/>
          <p:cNvSpPr/>
          <p:nvPr/>
        </p:nvSpPr>
        <p:spPr>
          <a:xfrm>
            <a:off x="2423160" y="38496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291840" y="3849624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5" name="Text 103"/>
          <p:cNvSpPr/>
          <p:nvPr/>
        </p:nvSpPr>
        <p:spPr>
          <a:xfrm>
            <a:off x="3337560" y="3849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023360" y="3849624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7" name="Text 105"/>
          <p:cNvSpPr/>
          <p:nvPr/>
        </p:nvSpPr>
        <p:spPr>
          <a:xfrm>
            <a:off x="4069080" y="3849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754880" y="3849624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9" name="Text 107"/>
          <p:cNvSpPr/>
          <p:nvPr/>
        </p:nvSpPr>
        <p:spPr>
          <a:xfrm>
            <a:off x="4800600" y="3849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943600" y="3849624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1" name="Text 109"/>
          <p:cNvSpPr/>
          <p:nvPr/>
        </p:nvSpPr>
        <p:spPr>
          <a:xfrm>
            <a:off x="5989320" y="38496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65760" y="4233672"/>
            <a:ext cx="20116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3" name="Text 111"/>
          <p:cNvSpPr/>
          <p:nvPr/>
        </p:nvSpPr>
        <p:spPr>
          <a:xfrm>
            <a:off x="41148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377440" y="4233672"/>
            <a:ext cx="9144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5" name="Text 113"/>
          <p:cNvSpPr/>
          <p:nvPr/>
        </p:nvSpPr>
        <p:spPr>
          <a:xfrm>
            <a:off x="2423160" y="4233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291840" y="4233672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7" name="Text 115"/>
          <p:cNvSpPr/>
          <p:nvPr/>
        </p:nvSpPr>
        <p:spPr>
          <a:xfrm>
            <a:off x="3337560" y="4233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023360" y="4233672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9" name="Text 117"/>
          <p:cNvSpPr/>
          <p:nvPr/>
        </p:nvSpPr>
        <p:spPr>
          <a:xfrm>
            <a:off x="4069080" y="4233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754880" y="4233672"/>
            <a:ext cx="11887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1" name="Text 119"/>
          <p:cNvSpPr/>
          <p:nvPr/>
        </p:nvSpPr>
        <p:spPr>
          <a:xfrm>
            <a:off x="4800600" y="42336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943600" y="4233672"/>
            <a:ext cx="100584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3" name="Text 121"/>
          <p:cNvSpPr/>
          <p:nvPr/>
        </p:nvSpPr>
        <p:spPr>
          <a:xfrm>
            <a:off x="5989320" y="4233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65760" y="4617720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5" name="Text 123"/>
          <p:cNvSpPr/>
          <p:nvPr/>
        </p:nvSpPr>
        <p:spPr>
          <a:xfrm>
            <a:off x="41148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377440" y="4617720"/>
            <a:ext cx="9144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7" name="Text 125"/>
          <p:cNvSpPr/>
          <p:nvPr/>
        </p:nvSpPr>
        <p:spPr>
          <a:xfrm>
            <a:off x="2423160" y="4617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291840" y="461772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9" name="Text 127"/>
          <p:cNvSpPr/>
          <p:nvPr/>
        </p:nvSpPr>
        <p:spPr>
          <a:xfrm>
            <a:off x="333756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023360" y="461772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1" name="Text 129"/>
          <p:cNvSpPr/>
          <p:nvPr/>
        </p:nvSpPr>
        <p:spPr>
          <a:xfrm>
            <a:off x="406908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754880" y="4617720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3" name="Text 131"/>
          <p:cNvSpPr/>
          <p:nvPr/>
        </p:nvSpPr>
        <p:spPr>
          <a:xfrm>
            <a:off x="4800600" y="4617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943600" y="4617720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5" name="Text 133"/>
          <p:cNvSpPr/>
          <p:nvPr/>
        </p:nvSpPr>
        <p:spPr>
          <a:xfrm>
            <a:off x="59893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65760" y="5001768"/>
            <a:ext cx="20116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7" name="Text 135"/>
          <p:cNvSpPr/>
          <p:nvPr/>
        </p:nvSpPr>
        <p:spPr>
          <a:xfrm>
            <a:off x="411480" y="5001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Gauss. Mixture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377440" y="5001768"/>
            <a:ext cx="9144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9" name="Text 137"/>
          <p:cNvSpPr/>
          <p:nvPr/>
        </p:nvSpPr>
        <p:spPr>
          <a:xfrm>
            <a:off x="2423160" y="50017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(set)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291840" y="5001768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1" name="Text 139"/>
          <p:cNvSpPr/>
          <p:nvPr/>
        </p:nvSpPr>
        <p:spPr>
          <a:xfrm>
            <a:off x="3337560" y="5001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023360" y="5001768"/>
            <a:ext cx="73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3" name="Text 141"/>
          <p:cNvSpPr/>
          <p:nvPr/>
        </p:nvSpPr>
        <p:spPr>
          <a:xfrm>
            <a:off x="4069080" y="5001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4754880" y="5001768"/>
            <a:ext cx="11887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5" name="Text 143"/>
          <p:cNvSpPr/>
          <p:nvPr/>
        </p:nvSpPr>
        <p:spPr>
          <a:xfrm>
            <a:off x="4800600" y="5001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5943600" y="5001768"/>
            <a:ext cx="100584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7" name="Text 145"/>
          <p:cNvSpPr/>
          <p:nvPr/>
        </p:nvSpPr>
        <p:spPr>
          <a:xfrm>
            <a:off x="5989320" y="5001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65760" y="4617720"/>
            <a:ext cx="45720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0" name="Text 148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for Mall Data: K-Means (k=5) — Fast, interpretable, clean 5-segment split confirmed by elbow method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Algorithms Comparison</dc:title>
  <dc:subject>PptxGenJS Presentation</dc:subject>
  <dc:creator>PptxGenJS</dc:creator>
  <cp:lastModifiedBy>PptxGenJS</cp:lastModifiedBy>
  <cp:revision>1</cp:revision>
  <dcterms:created xsi:type="dcterms:W3CDTF">2026-03-15T15:45:10Z</dcterms:created>
  <dcterms:modified xsi:type="dcterms:W3CDTF">2026-03-15T15:45:10Z</dcterms:modified>
</cp:coreProperties>
</file>